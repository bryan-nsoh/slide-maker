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91440" y="101501"/>
            <a:ext cx="93268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the Proof, Not the Data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-91440" y="476101"/>
            <a:ext cx="932688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CertTalk: Send the certificate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40043" y="910977"/>
            <a:ext cx="41776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300"/>
              </a:spcBef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reachable → PATH_CERT</a:t>
            </a:r>
            <a:endParaRPr lang="en-US" sz="1300" dirty="0"/>
          </a:p>
        </p:txBody>
      </p:sp>
      <p:pic>
        <p:nvPicPr>
          <p:cNvPr id="5" name="Image 0" descr="/Users/3bn/Documents/My_Repos/slide-maker/projects/certtalk/v2-results/images/grid_path_c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3325" y="1161752"/>
            <a:ext cx="1650950" cy="16509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40043" y="2901404"/>
            <a:ext cx="417766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"Here's the route"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40043" y="3098155"/>
            <a:ext cx="41776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~12 bytes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626293" y="910977"/>
            <a:ext cx="41776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300"/>
              </a:spcBef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blocked → CUT_CERT</a:t>
            </a:r>
            <a:endParaRPr lang="en-US" sz="1300" dirty="0"/>
          </a:p>
        </p:txBody>
      </p:sp>
      <p:pic>
        <p:nvPicPr>
          <p:cNvPr id="9" name="Image 1" descr="/Users/3bn/Documents/My_Repos/slide-maker/projects/certtalk/v2-results/images/grid_cut_ce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9575" y="1161752"/>
            <a:ext cx="1650950" cy="16509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26293" y="2901404"/>
            <a:ext cx="417766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"This wall blocks us"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4626293" y="3098155"/>
            <a:ext cx="41776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 bytes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507950" y="3342531"/>
            <a:ext cx="8128099" cy="1072604"/>
          </a:xfrm>
          <a:prstGeom prst="roundRect">
            <a:avLst>
              <a:gd name="adj" fmla="val 4736"/>
            </a:avLst>
          </a:prstGeom>
          <a:solidFill>
            <a:srgbClr val="E8F8F5"/>
          </a:solidFill>
          <a:ln w="19050">
            <a:solidFill>
              <a:srgbClr val="27AE6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653951" y="3437781"/>
            <a:ext cx="79928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Certificate?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53951" y="3647331"/>
            <a:ext cx="7992820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Certificate = Claim + Artifact + Attestation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882551" y="3850332"/>
            <a:ext cx="7607498" cy="152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2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Claim:</a:t>
            </a:r>
            <a:pPr algn="l" indent="0" marL="0">
              <a:lnSpc>
                <a:spcPts val="1200"/>
              </a:lnSpc>
              <a:spcAft>
                <a:spcPts val="1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"Path exists" or "Unreachable" • </a:t>
            </a:r>
            <a:pPr algn="l" indent="0" marL="0">
              <a:lnSpc>
                <a:spcPts val="1200"/>
              </a:lnSpc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Artifact:</a:t>
            </a:r>
            <a:pPr algn="l" indent="0" marL="0">
              <a:lnSpc>
                <a:spcPts val="1200"/>
              </a:lnSpc>
              <a:spcAft>
                <a:spcPts val="1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RLE-encoded path/cut • </a:t>
            </a:r>
            <a:pPr algn="l" indent="0" marL="0">
              <a:lnSpc>
                <a:spcPts val="1200"/>
              </a:lnSpc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Attestation:</a:t>
            </a:r>
            <a:pPr algn="l" indent="0" marL="0">
              <a:lnSpc>
                <a:spcPts val="1200"/>
              </a:lnSpc>
              <a:spcAft>
                <a:spcPts val="1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Witness bits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53951" y="4078784"/>
            <a:ext cx="7992820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verify:</a:t>
            </a:r>
            <a:pPr algn="l" indent="0" marL="0">
              <a:lnSpc>
                <a:spcPts val="13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Certificate + Union map only. </a:t>
            </a:r>
            <a:pPr algn="l" indent="0" marL="0">
              <a:lnSpc>
                <a:spcPts val="13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Send-All</a:t>
            </a:r>
            <a:pPr algn="l" indent="0" marL="0">
              <a:lnSpc>
                <a:spcPts val="13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sends coords → rebuild + solve. </a:t>
            </a:r>
            <a:pPr algn="l" indent="0" marL="0">
              <a:lnSpc>
                <a:spcPts val="13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CertTalk</a:t>
            </a:r>
            <a:pPr algn="l" indent="0" marL="0">
              <a:lnSpc>
                <a:spcPts val="13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sends proof → direct check.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91440" y="101501"/>
            <a:ext cx="93268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Breaking Epistemic Deadlock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-91440" y="476101"/>
            <a:ext cx="93268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agents certify with partial knowledge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34363" y="774502"/>
            <a:ext cx="411937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74749" y="1114127"/>
            <a:ext cx="411937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10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proposes cut with 6 cells. B can only verify 3 of them: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74749" y="1418779"/>
            <a:ext cx="609600" cy="609600"/>
          </a:xfrm>
          <a:prstGeom prst="roundRect">
            <a:avLst>
              <a:gd name="adj" fmla="val 8333"/>
            </a:avLst>
          </a:prstGeom>
          <a:solidFill>
            <a:srgbClr val="D5F4E6"/>
          </a:solidFill>
          <a:ln w="19050">
            <a:solidFill>
              <a:srgbClr val="27AE6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2513" y="1566416"/>
            <a:ext cx="19795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60549" y="1418779"/>
            <a:ext cx="609600" cy="609600"/>
          </a:xfrm>
          <a:prstGeom prst="roundRect">
            <a:avLst>
              <a:gd name="adj" fmla="val 8333"/>
            </a:avLst>
          </a:prstGeom>
          <a:solidFill>
            <a:srgbClr val="D5F4E6"/>
          </a:solidFill>
          <a:ln w="19050">
            <a:solidFill>
              <a:srgbClr val="27AE6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268313" y="1566416"/>
            <a:ext cx="19795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46349" y="1418779"/>
            <a:ext cx="609600" cy="609600"/>
          </a:xfrm>
          <a:prstGeom prst="roundRect">
            <a:avLst>
              <a:gd name="adj" fmla="val 8333"/>
            </a:avLst>
          </a:prstGeom>
          <a:solidFill>
            <a:srgbClr val="FADBD8"/>
          </a:solidFill>
          <a:ln w="19050">
            <a:solidFill>
              <a:srgbClr val="E74C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978670" y="1575941"/>
            <a:ext cx="147858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432149" y="1418779"/>
            <a:ext cx="609600" cy="609600"/>
          </a:xfrm>
          <a:prstGeom prst="roundRect">
            <a:avLst>
              <a:gd name="adj" fmla="val 8333"/>
            </a:avLst>
          </a:prstGeom>
          <a:solidFill>
            <a:srgbClr val="FADBD8"/>
          </a:solidFill>
          <a:ln w="19050">
            <a:solidFill>
              <a:srgbClr val="E74C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664470" y="1575941"/>
            <a:ext cx="147858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117949" y="1418779"/>
            <a:ext cx="609600" cy="609600"/>
          </a:xfrm>
          <a:prstGeom prst="roundRect">
            <a:avLst>
              <a:gd name="adj" fmla="val 8333"/>
            </a:avLst>
          </a:prstGeom>
          <a:solidFill>
            <a:srgbClr val="D5F4E6"/>
          </a:solidFill>
          <a:ln w="19050">
            <a:solidFill>
              <a:srgbClr val="27AE6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325713" y="1566416"/>
            <a:ext cx="19795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803749" y="1418779"/>
            <a:ext cx="609600" cy="609600"/>
          </a:xfrm>
          <a:prstGeom prst="roundRect">
            <a:avLst>
              <a:gd name="adj" fmla="val 8333"/>
            </a:avLst>
          </a:prstGeom>
          <a:solidFill>
            <a:srgbClr val="FADBD8"/>
          </a:solidFill>
          <a:ln w="19050">
            <a:solidFill>
              <a:srgbClr val="E74C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036070" y="1575941"/>
            <a:ext cx="147858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34363" y="2129879"/>
            <a:ext cx="411937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B sees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74749" y="2510582"/>
            <a:ext cx="4038600" cy="1052810"/>
          </a:xfrm>
          <a:prstGeom prst="roundRect">
            <a:avLst>
              <a:gd name="adj" fmla="val 4825"/>
            </a:avLst>
          </a:prstGeom>
          <a:solidFill>
            <a:srgbClr val="FADBD8"/>
          </a:solidFill>
          <a:ln w="19050">
            <a:solidFill>
              <a:srgbClr val="E74C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95300" y="2669232"/>
            <a:ext cx="3873448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attribution: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5300" y="2872234"/>
            <a:ext cx="3797498" cy="545306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3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must NACK (can't verify 3 cells)</a:t>
            </a:r>
            <a:endParaRPr lang="en-US" sz="1000" dirty="0"/>
          </a:p>
          <a:p>
            <a:pPr algn="l" marL="101600" indent="-101600">
              <a:lnSpc>
                <a:spcPts val="13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sends PROBE</a:t>
            </a:r>
            <a:endParaRPr lang="en-US" sz="1000" dirty="0"/>
          </a:p>
          <a:p>
            <a:pPr algn="l" marL="101600" indent="-101600">
              <a:lnSpc>
                <a:spcPts val="13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Deadlock: 5+ messages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90414" y="774502"/>
            <a:ext cx="411937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730800" y="1114127"/>
            <a:ext cx="411937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10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Witness bits (1 per cell) encode WHO vouches: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730800" y="1418779"/>
            <a:ext cx="609600" cy="482501"/>
          </a:xfrm>
          <a:prstGeom prst="roundRect">
            <a:avLst>
              <a:gd name="adj" fmla="val 10528"/>
            </a:avLst>
          </a:prstGeom>
          <a:solidFill>
            <a:srgbClr val="D6EAF8"/>
          </a:solidFill>
          <a:ln w="19050">
            <a:solidFill>
              <a:srgbClr val="3498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971901" y="1526679"/>
            <a:ext cx="1297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416600" y="1418779"/>
            <a:ext cx="609600" cy="482501"/>
          </a:xfrm>
          <a:prstGeom prst="roundRect">
            <a:avLst>
              <a:gd name="adj" fmla="val 10528"/>
            </a:avLst>
          </a:prstGeom>
          <a:solidFill>
            <a:srgbClr val="D6EAF8"/>
          </a:solidFill>
          <a:ln w="19050">
            <a:solidFill>
              <a:srgbClr val="3498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657701" y="1526679"/>
            <a:ext cx="1297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102400" y="1418779"/>
            <a:ext cx="609600" cy="482501"/>
          </a:xfrm>
          <a:prstGeom prst="roundRect">
            <a:avLst>
              <a:gd name="adj" fmla="val 10528"/>
            </a:avLst>
          </a:prstGeom>
          <a:solidFill>
            <a:srgbClr val="FEF5E7"/>
          </a:solidFill>
          <a:ln w="19050">
            <a:solidFill>
              <a:srgbClr val="F39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343501" y="1526679"/>
            <a:ext cx="1297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39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88200" y="1418779"/>
            <a:ext cx="609600" cy="482501"/>
          </a:xfrm>
          <a:prstGeom prst="roundRect">
            <a:avLst>
              <a:gd name="adj" fmla="val 10528"/>
            </a:avLst>
          </a:prstGeom>
          <a:solidFill>
            <a:srgbClr val="FEF5E7"/>
          </a:solidFill>
          <a:ln w="19050">
            <a:solidFill>
              <a:srgbClr val="F39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029301" y="1526679"/>
            <a:ext cx="1297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39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474000" y="1418779"/>
            <a:ext cx="609600" cy="482501"/>
          </a:xfrm>
          <a:prstGeom prst="roundRect">
            <a:avLst>
              <a:gd name="adj" fmla="val 10528"/>
            </a:avLst>
          </a:prstGeom>
          <a:solidFill>
            <a:srgbClr val="D6EAF8"/>
          </a:solidFill>
          <a:ln w="19050">
            <a:solidFill>
              <a:srgbClr val="3498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715101" y="1526679"/>
            <a:ext cx="1297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159800" y="1418779"/>
            <a:ext cx="609600" cy="482501"/>
          </a:xfrm>
          <a:prstGeom prst="roundRect">
            <a:avLst>
              <a:gd name="adj" fmla="val 10528"/>
            </a:avLst>
          </a:prstGeom>
          <a:solidFill>
            <a:srgbClr val="FEF5E7"/>
          </a:solidFill>
          <a:ln w="19050">
            <a:solidFill>
              <a:srgbClr val="F39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8400901" y="1526679"/>
            <a:ext cx="1297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39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4839385" y="1952030"/>
            <a:ext cx="5829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87085" y="1952030"/>
            <a:ext cx="5829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134785" y="1952030"/>
            <a:ext cx="5829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782485" y="1952030"/>
            <a:ext cx="5829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430185" y="1952030"/>
            <a:ext cx="5829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77885" y="1952030"/>
            <a:ext cx="5829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690414" y="2221855"/>
            <a:ext cx="411937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attests each cell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730800" y="2602557"/>
            <a:ext cx="4038600" cy="1065609"/>
          </a:xfrm>
          <a:prstGeom prst="roundRect">
            <a:avLst>
              <a:gd name="adj" fmla="val 4767"/>
            </a:avLst>
          </a:prstGeom>
          <a:solidFill>
            <a:srgbClr val="E8F8F5"/>
          </a:solidFill>
          <a:ln w="19050">
            <a:solidFill>
              <a:srgbClr val="27AE6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4851350" y="2761208"/>
            <a:ext cx="3873448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B's acceptance rule: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851350" y="2964210"/>
            <a:ext cx="3873448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 cell if: </a:t>
            </a:r>
            <a:pPr algn="l" indent="0" marL="0">
              <a:lnSpc>
                <a:spcPts val="13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(I see blocked) OR (bit=0)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851350" y="3167211"/>
            <a:ext cx="3797498" cy="355104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3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6 cells pass ✓</a:t>
            </a:r>
            <a:endParaRPr lang="en-US" sz="1000" dirty="0"/>
          </a:p>
          <a:p>
            <a:pPr algn="l" marL="101600" indent="-101600">
              <a:lnSpc>
                <a:spcPts val="13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path: 3 messages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-91440" y="4737199"/>
            <a:ext cx="93268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2000"/>
              </a:spcAft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1 byte (6 bits) • Benefit: Eliminates probe round (~200 bytes)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91440" y="101501"/>
            <a:ext cx="93268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We'll Compare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-91440" y="501551"/>
            <a:ext cx="93268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under test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7950" y="803077"/>
            <a:ext cx="3864025" cy="3526780"/>
          </a:xfrm>
          <a:prstGeom prst="roundRect">
            <a:avLst>
              <a:gd name="adj" fmla="val 2161"/>
            </a:avLst>
          </a:prstGeom>
          <a:solidFill>
            <a:srgbClr val="F8F9FA"/>
          </a:solidFill>
          <a:ln w="38100">
            <a:solidFill>
              <a:srgbClr val="BDC3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89427" y="1018877"/>
            <a:ext cx="350107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Send-All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9427" y="1361777"/>
            <a:ext cx="35010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(baseline)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9427" y="1641128"/>
            <a:ext cx="35010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"Dump raw data"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23751" y="2044303"/>
            <a:ext cx="350107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 obstacle coords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23751" y="2304604"/>
            <a:ext cx="350107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 obstacle coords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3751" y="2564904"/>
            <a:ext cx="350107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Rebuild map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23751" y="2825204"/>
            <a:ext cx="350107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Run pathfinder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23751" y="3085505"/>
            <a:ext cx="350107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Answer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23751" y="3447306"/>
            <a:ext cx="3432423" cy="666750"/>
          </a:xfrm>
          <a:prstGeom prst="roundRect">
            <a:avLst>
              <a:gd name="adj" fmla="val 7619"/>
            </a:avLst>
          </a:prstGeom>
          <a:solidFill>
            <a:srgbClr val="FFE6E6"/>
          </a:solidFill>
          <a:ln w="19050">
            <a:solidFill>
              <a:srgbClr val="E74C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86582" y="3694956"/>
            <a:ext cx="330676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- need solver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2975" y="803077"/>
            <a:ext cx="3883075" cy="3526780"/>
          </a:xfrm>
          <a:prstGeom prst="roundRect">
            <a:avLst>
              <a:gd name="adj" fmla="val 2161"/>
            </a:avLst>
          </a:prstGeom>
          <a:solidFill>
            <a:srgbClr val="FFF9E6"/>
          </a:solidFill>
          <a:ln w="47625">
            <a:solidFill>
              <a:srgbClr val="F39C12"/>
            </a:solidFill>
          </a:ln>
          <a:effectLst>
            <a:outerShdw sx="100000" sy="100000" kx="0" ky="0" algn="bl" rotWithShape="0" blurRad="101600" dist="50800" dir="5400000">
              <a:srgbClr val="f39c12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943977" y="1028402"/>
            <a:ext cx="350107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CertTalk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943977" y="1371302"/>
            <a:ext cx="35010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(this work)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43977" y="1650653"/>
            <a:ext cx="35010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"Send proof"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78301" y="2053828"/>
            <a:ext cx="350107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Certificate proposal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78301" y="2314129"/>
            <a:ext cx="350107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Verify locally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78301" y="2574429"/>
            <a:ext cx="350107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Certificate 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78301" y="2834729"/>
            <a:ext cx="350107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artifact:</a:t>
            </a:r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PATH or CUT proof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78301" y="3437781"/>
            <a:ext cx="3432423" cy="666750"/>
          </a:xfrm>
          <a:prstGeom prst="roundRect">
            <a:avLst>
              <a:gd name="adj" fmla="val 7619"/>
            </a:avLst>
          </a:prstGeom>
          <a:solidFill>
            <a:srgbClr val="E8F8F5"/>
          </a:solidFill>
          <a:ln w="19050">
            <a:solidFill>
              <a:srgbClr val="27AE6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041132" y="3685431"/>
            <a:ext cx="330676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Interpretable - visual proof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7950" y="4380607"/>
            <a:ext cx="8128099" cy="511076"/>
          </a:xfrm>
          <a:prstGeom prst="roundRect">
            <a:avLst>
              <a:gd name="adj" fmla="val 9940"/>
            </a:avLst>
          </a:prstGeom>
          <a:solidFill>
            <a:srgbClr val="F8F9FA"/>
          </a:solidFill>
          <a:ln w="19050">
            <a:solidFill>
              <a:srgbClr val="BDC3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53314" y="4475857"/>
            <a:ext cx="78373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Preliminary 10×10 results: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3314" y="4653558"/>
            <a:ext cx="783737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Send-All: ~350B (100%) • CertTalk: ~470B (100%) • +34% overhead for proof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-91440" y="4993184"/>
            <a:ext cx="93268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2500"/>
              </a:spcAft>
              <a:buNone/>
            </a:pPr>
            <a:r>
              <a:rPr lang="en-US" sz="1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Other baselines (exploration strategies) tested on same 1,000 instances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91440" y="126950"/>
            <a:ext cx="93268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We'll Test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26669" y="527000"/>
            <a:ext cx="829066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We'll generate 1,000 cached grids (4×4 to 22×22, mixed density)</a:t>
            </a:r>
            <a:endParaRPr lang="en-US" sz="1400" dirty="0"/>
          </a:p>
        </p:txBody>
      </p:sp>
      <p:pic>
        <p:nvPicPr>
          <p:cNvPr id="4" name="Image 0" descr="/Users/3bn/Documents/My_Repos/slide-maker/projects/certtalk/v2-results/images/grid_exampl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7025" y="812750"/>
            <a:ext cx="1308050" cy="13080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0998" y="2197001"/>
            <a:ext cx="204025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exists</a:t>
            </a:r>
            <a:endParaRPr lang="en-US" sz="900" dirty="0"/>
          </a:p>
        </p:txBody>
      </p:sp>
      <p:pic>
        <p:nvPicPr>
          <p:cNvPr id="6" name="Image 1" descr="/Users/3bn/Documents/My_Repos/slide-maker/projects/certtalk/v2-results/images/grid_exampl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4226" y="812750"/>
            <a:ext cx="1308050" cy="13080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488198" y="2197001"/>
            <a:ext cx="204025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exists</a:t>
            </a:r>
            <a:endParaRPr lang="en-US" sz="900" dirty="0"/>
          </a:p>
        </p:txBody>
      </p:sp>
      <p:pic>
        <p:nvPicPr>
          <p:cNvPr id="8" name="Image 2" descr="/Users/3bn/Documents/My_Repos/slide-maker/projects/certtalk/v2-results/images/grid_example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426" y="812750"/>
            <a:ext cx="1308050" cy="130805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615398" y="2197001"/>
            <a:ext cx="204025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 barrier</a:t>
            </a:r>
            <a:endParaRPr lang="en-US" sz="900" dirty="0"/>
          </a:p>
        </p:txBody>
      </p:sp>
      <p:pic>
        <p:nvPicPr>
          <p:cNvPr id="10" name="Image 3" descr="/Users/3bn/Documents/My_Repos/slide-maker/projects/certtalk/v2-results/images/grid_example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8627" y="812750"/>
            <a:ext cx="1308050" cy="130805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742599" y="2197001"/>
            <a:ext cx="204025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Trivial path</a:t>
            </a:r>
            <a:endParaRPr lang="en-US" sz="900" dirty="0"/>
          </a:p>
        </p:txBody>
      </p:sp>
      <p:sp>
        <p:nvSpPr>
          <p:cNvPr id="12" name="Text 6"/>
          <p:cNvSpPr/>
          <p:nvPr/>
        </p:nvSpPr>
        <p:spPr>
          <a:xfrm>
            <a:off x="507950" y="2533352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(same for all):</a:t>
            </a:r>
            <a:endParaRPr lang="en-US" sz="1300" dirty="0"/>
          </a:p>
        </p:txBody>
      </p:sp>
      <p:sp>
        <p:nvSpPr>
          <p:cNvPr id="13" name="Text 7"/>
          <p:cNvSpPr/>
          <p:nvPr/>
        </p:nvSpPr>
        <p:spPr>
          <a:xfrm>
            <a:off x="507950" y="2796778"/>
            <a:ext cx="8128099" cy="786408"/>
          </a:xfrm>
          <a:prstGeom prst="roundRect">
            <a:avLst>
              <a:gd name="adj" fmla="val 9690"/>
            </a:avLst>
          </a:prstGeom>
          <a:solidFill>
            <a:srgbClr val="FFF9E6"/>
          </a:solidFill>
          <a:ln w="19050">
            <a:solidFill>
              <a:srgbClr val="F39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8"/>
          <p:cNvSpPr/>
          <p:nvPr/>
        </p:nvSpPr>
        <p:spPr>
          <a:xfrm>
            <a:off x="679400" y="2917329"/>
            <a:ext cx="7785199" cy="545306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3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64 messages</a:t>
            </a:r>
            <a:endParaRPr lang="en-US" sz="1000" dirty="0"/>
          </a:p>
          <a:p>
            <a:pPr algn="l" marL="101600" indent="-101600">
              <a:lnSpc>
                <a:spcPts val="13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256 bytes per packet</a:t>
            </a:r>
            <a:endParaRPr lang="en-US" sz="1000" dirty="0"/>
          </a:p>
          <a:p>
            <a:pPr algn="l" marL="101600" indent="-101600">
              <a:lnSpc>
                <a:spcPts val="13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3,072 bytes total</a:t>
            </a:r>
            <a:endParaRPr lang="en-US" sz="1000" dirty="0"/>
          </a:p>
        </p:txBody>
      </p:sp>
      <p:sp>
        <p:nvSpPr>
          <p:cNvPr id="15" name="Text 9"/>
          <p:cNvSpPr/>
          <p:nvPr/>
        </p:nvSpPr>
        <p:spPr>
          <a:xfrm>
            <a:off x="507950" y="3735586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we'll measure &amp; why: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507950" y="3999012"/>
            <a:ext cx="8128099" cy="786408"/>
          </a:xfrm>
          <a:prstGeom prst="roundRect">
            <a:avLst>
              <a:gd name="adj" fmla="val 9690"/>
            </a:avLst>
          </a:prstGeom>
          <a:solidFill>
            <a:srgbClr val="E8F4F8"/>
          </a:solidFill>
          <a:ln w="19050">
            <a:solidFill>
              <a:srgbClr val="3498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1"/>
          <p:cNvSpPr/>
          <p:nvPr/>
        </p:nvSpPr>
        <p:spPr>
          <a:xfrm>
            <a:off x="679400" y="4119562"/>
            <a:ext cx="7785199" cy="545306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3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Correctness</a:t>
            </a:r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(oracle accepts) → Does it work?</a:t>
            </a:r>
            <a:endParaRPr lang="en-US" sz="1000" dirty="0"/>
          </a:p>
          <a:p>
            <a:pPr algn="l" marL="101600" indent="-101600">
              <a:lnSpc>
                <a:spcPts val="13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Efficiency</a:t>
            </a:r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(bytes, messages) → Practical overhead?</a:t>
            </a:r>
            <a:endParaRPr lang="en-US" sz="1000" dirty="0"/>
          </a:p>
          <a:p>
            <a:pPr algn="l" marL="101600" indent="-101600">
              <a:lnSpc>
                <a:spcPts val="13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Interpretability</a:t>
            </a:r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(human verification time) → Auditability feasible?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91440" y="101501"/>
            <a:ext cx="93268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&amp; Deliverables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-91440" y="476101"/>
            <a:ext cx="93268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26 → Dec 6 (6 weeks)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009937" y="723751"/>
            <a:ext cx="224534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1-2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211254" y="723751"/>
            <a:ext cx="224534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3-4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12571" y="723751"/>
            <a:ext cx="224534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5-6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7950" y="1206252"/>
            <a:ext cx="148965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Implementation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031802" y="933301"/>
            <a:ext cx="2201168" cy="888950"/>
          </a:xfrm>
          <a:prstGeom prst="roundRect">
            <a:avLst>
              <a:gd name="adj" fmla="val 5715"/>
            </a:avLst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412653" y="1301502"/>
            <a:ext cx="146810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+ Encodings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7950" y="2384078"/>
            <a:ext cx="14896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Baselines &amp; Dataset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32970" y="2025402"/>
            <a:ext cx="2201168" cy="888950"/>
          </a:xfrm>
          <a:prstGeom prst="roundRect">
            <a:avLst>
              <a:gd name="adj" fmla="val 5715"/>
            </a:avLst>
          </a:prstGeom>
          <a:solidFill>
            <a:srgbClr val="F39C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463504" y="2393603"/>
            <a:ext cx="17747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grids + Test harness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950" y="3390454"/>
            <a:ext cx="148965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Experiments &amp; Analysis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34138" y="3117503"/>
            <a:ext cx="2201763" cy="888950"/>
          </a:xfrm>
          <a:prstGeom prst="roundRect">
            <a:avLst>
              <a:gd name="adj" fmla="val 5715"/>
            </a:avLst>
          </a:prstGeom>
          <a:solidFill>
            <a:srgbClr val="E74C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966496" y="3485704"/>
            <a:ext cx="115963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runs + Paper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4401" y="4285804"/>
            <a:ext cx="8255198" cy="774650"/>
          </a:xfrm>
          <a:prstGeom prst="roundRect">
            <a:avLst>
              <a:gd name="adj" fmla="val 9837"/>
            </a:avLst>
          </a:prstGeom>
          <a:solidFill>
            <a:srgbClr val="FFF9E6"/>
          </a:solidFill>
          <a:ln w="19050">
            <a:solidFill>
              <a:srgbClr val="F39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5851" y="4381054"/>
            <a:ext cx="80705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Deliverables: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5851" y="4631829"/>
            <a:ext cx="1920925" cy="333375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 w="19050">
            <a:solidFill>
              <a:srgbClr val="F39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93797" y="4727079"/>
            <a:ext cx="17650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(GitHub)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612975" y="4631829"/>
            <a:ext cx="1920925" cy="333375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 w="19050">
            <a:solidFill>
              <a:srgbClr val="F39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690921" y="4727079"/>
            <a:ext cx="17650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(1K grids)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10100" y="4631829"/>
            <a:ext cx="1920925" cy="333375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 w="19050">
            <a:solidFill>
              <a:srgbClr val="F39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688046" y="4727079"/>
            <a:ext cx="17650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(Arxiv)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07225" y="4631829"/>
            <a:ext cx="1920925" cy="333375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 w="19050">
            <a:solidFill>
              <a:srgbClr val="F39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685170" y="4727079"/>
            <a:ext cx="17650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91440" y="101501"/>
            <a:ext cx="93268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&amp; Mitigation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-91440" y="476101"/>
            <a:ext cx="93268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Anticipated challenges and our strategies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44401" y="774502"/>
            <a:ext cx="4032349" cy="1019770"/>
          </a:xfrm>
          <a:prstGeom prst="roundRect">
            <a:avLst>
              <a:gd name="adj" fmla="val 7472"/>
            </a:avLst>
          </a:prstGeom>
          <a:solidFill>
            <a:srgbClr val="FADBD8"/>
          </a:solidFill>
          <a:ln w="19050">
            <a:solidFill>
              <a:srgbClr val="E74C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41152" y="945952"/>
            <a:ext cx="371162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Computational Scalability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1152" y="1279327"/>
            <a:ext cx="3711625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 caps at 22×22 grids (1,000 seeds max)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667250" y="774502"/>
            <a:ext cx="4032349" cy="1019770"/>
          </a:xfrm>
          <a:prstGeom prst="roundRect">
            <a:avLst>
              <a:gd name="adj" fmla="val 7472"/>
            </a:avLst>
          </a:prstGeom>
          <a:solidFill>
            <a:srgbClr val="D5F4E6"/>
          </a:solidFill>
          <a:ln w="19050">
            <a:solidFill>
              <a:srgbClr val="27AE6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864001" y="945952"/>
            <a:ext cx="371162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Mitigation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64001" y="1231702"/>
            <a:ext cx="3711625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4×4 to 22×22 range, vary density, document limits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44401" y="2022872"/>
            <a:ext cx="4032349" cy="1019770"/>
          </a:xfrm>
          <a:prstGeom prst="roundRect">
            <a:avLst>
              <a:gd name="adj" fmla="val 7472"/>
            </a:avLst>
          </a:prstGeom>
          <a:solidFill>
            <a:srgbClr val="FADBD8"/>
          </a:solidFill>
          <a:ln w="19050">
            <a:solidFill>
              <a:srgbClr val="E74C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41152" y="2194322"/>
            <a:ext cx="371162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Timeline Pressure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1152" y="2527697"/>
            <a:ext cx="3711625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 6 deadline: experiments + analysis + paper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7250" y="2022872"/>
            <a:ext cx="4032349" cy="1019770"/>
          </a:xfrm>
          <a:prstGeom prst="roundRect">
            <a:avLst>
              <a:gd name="adj" fmla="val 7472"/>
            </a:avLst>
          </a:prstGeom>
          <a:solidFill>
            <a:srgbClr val="D5F4E6"/>
          </a:solidFill>
          <a:ln w="19050">
            <a:solidFill>
              <a:srgbClr val="27AE6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864001" y="2194322"/>
            <a:ext cx="371162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Mitigation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64001" y="2480072"/>
            <a:ext cx="3711625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other baselines only once Send-All vs CertTalk work rigorously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CertTalk: Approach &amp; Experiments</dc:title>
  <dc:subject>Multi-agent communication with certificates</dc:subject>
  <dc:creator>CertTalk Team</dc:creator>
  <cp:lastModifiedBy>CertTalk Team</cp:lastModifiedBy>
  <cp:revision>1</cp:revision>
  <dcterms:created xsi:type="dcterms:W3CDTF">2025-10-27T18:59:00Z</dcterms:created>
  <dcterms:modified xsi:type="dcterms:W3CDTF">2025-10-27T18:59:00Z</dcterms:modified>
</cp:coreProperties>
</file>