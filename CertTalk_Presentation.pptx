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Two Robots, Private Maps,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Robot A sees: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S . .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A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A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2377440" cy="1463040"/>
          </a:xfrm>
          <a:prstGeom prst="rect">
            <a:avLst/>
          </a:prstGeom>
          <a:noFill/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Robot B sees: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S . . B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B .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B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25880"/>
            <a:ext cx="2377440" cy="146304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Union U = A∪B: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S . . B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A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B A . .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B</a:t>
            </a:r>
          </a:p>
          <a:p>
            <a:pPr algn="l">
              <a:defRPr sz="1600" b="0">
                <a:solidFill>
                  <a:srgbClr val="2C3E50"/>
                </a:solidFill>
                <a:latin typeface="Courier New"/>
              </a:defRPr>
            </a:pPr>
            <a:r>
              <a:t>. . . .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325880"/>
            <a:ext cx="2377440" cy="1463040"/>
          </a:xfrm>
          <a:prstGeom prst="rect">
            <a:avLst/>
          </a:prstGeom>
          <a:noFill/>
          <a:ln w="317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t>Question: Can we reach G from 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49039"/>
            <a:ext cx="320040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PATH_CERT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"Here's the route"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ourier New"/>
              </a:defRPr>
            </a:pPr>
            <a:r>
              <a:t>S→→↓</a:t>
            </a:r>
          </a:p>
          <a:p>
            <a:pPr algn="l">
              <a:defRPr sz="1400" b="0">
                <a:solidFill>
                  <a:srgbClr val="2C3E50"/>
                </a:solidFill>
                <a:latin typeface="Courier New"/>
              </a:defRPr>
            </a:pPr>
            <a:r>
              <a:t>   ↓</a:t>
            </a:r>
          </a:p>
          <a:p>
            <a:pPr algn="l">
              <a:defRPr sz="1400" b="0">
                <a:solidFill>
                  <a:srgbClr val="2C3E50"/>
                </a:solidFill>
                <a:latin typeface="Courier New"/>
              </a:defRPr>
            </a:pPr>
            <a:r>
              <a:t>   ↓</a:t>
            </a:r>
          </a:p>
          <a:p>
            <a:pPr algn="l">
              <a:defRPr sz="1400" b="0">
                <a:solidFill>
                  <a:srgbClr val="2C3E50"/>
                </a:solidFill>
                <a:latin typeface="Courier New"/>
              </a:defRPr>
            </a:pPr>
            <a:r>
              <a:t>   ↓→→→G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12 bytes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749039"/>
            <a:ext cx="320040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CUT_CERT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"Here's the barrier"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urier New"/>
              </a:defRPr>
            </a:pPr>
            <a:r>
              <a:t>. . . . .</a:t>
            </a:r>
          </a:p>
          <a:p>
            <a:pPr algn="l">
              <a:defRPr sz="1200" b="0">
                <a:solidFill>
                  <a:srgbClr val="2C3E50"/>
                </a:solidFill>
                <a:latin typeface="Courier New"/>
              </a:defRPr>
            </a:pPr>
            <a:r>
              <a:t>. █ █ . .</a:t>
            </a:r>
          </a:p>
          <a:p>
            <a:pPr algn="l">
              <a:defRPr sz="1200" b="0">
                <a:solidFill>
                  <a:srgbClr val="2C3E50"/>
                </a:solidFill>
                <a:latin typeface="Courier New"/>
              </a:defRPr>
            </a:pPr>
            <a:r>
              <a:t>. █ █ . .</a:t>
            </a:r>
          </a:p>
          <a:p>
            <a:pPr algn="l">
              <a:defRPr sz="1200" b="0">
                <a:solidFill>
                  <a:srgbClr val="2C3E50"/>
                </a:solidFill>
                <a:latin typeface="Courier New"/>
              </a:defRPr>
            </a:pPr>
            <a:r>
              <a:t>. █ █ . .</a:t>
            </a:r>
          </a:p>
          <a:p>
            <a:pPr algn="l">
              <a:defRPr sz="1200" b="0">
                <a:solidFill>
                  <a:srgbClr val="2C3E50"/>
                </a:solidFill>
                <a:latin typeface="Courier New"/>
              </a:defRPr>
            </a:pPr>
            <a:r>
              <a:t>. . . .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20 bytes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How Agents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Fast Path (Happy Case)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┌─────────────┐                           ┌─────────────┐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│   AGENT A   │                           │   AGENT B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│ (Initiator) │                           │ (Responder)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└──────┬──────┘                           └──────┬──────┘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                        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PATH_PROPOSE "Try route: ↓↓↓→→→"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├────────────────────────────────────────&gt;│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                              │ Check against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                              │ private map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PATH_CERT "Certified ✓"  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│&lt;────────────────────────────────────────┤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                        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ACK "Got it"            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├────────────────────────────────────────&gt;│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│                                         │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       ●  DONE (3 messages)                      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With Conflicts: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CUT_PROPOSE "Barrier: cells X,Y,Z"  →  NACK "Can't verify Y"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PROBE "Is Y blocked?"  →  PROBE_REPLY "Yes"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CUT_PROPOSE (revised)  →  CUT_CERT ✓</a:t>
            </a:r>
          </a:p>
          <a:p>
            <a:pPr algn="l">
              <a:defRPr sz="900" b="0">
                <a:solidFill>
                  <a:srgbClr val="2C3E50"/>
                </a:solidFill>
                <a:latin typeface="Courier New"/>
              </a:defRPr>
            </a:pPr>
            <a:r>
              <a:t>DONE (5-6 messages)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How Agents Agree on Unseen Obstacles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A proposes cut: cells (2,1), (2,2), (2,3), (2,4)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A's view: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Witness bits: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B's rule: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822960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822960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822960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(2,1) ← A sees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bit=0 "A vouches"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Accept if: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(2,2) ← A sees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bit=0 "A vouches"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- B sees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(2,3) ← A sees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bit=1 "B vouches"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Calibri"/>
              </a:defRPr>
            </a:pPr>
            <a: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(2,4) ← A sees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bit=1 "B vouches"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- bit=0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Calibri"/>
              </a:defRPr>
            </a:pPr>
            <a:r>
              <a:t>B checks (2,3): B sees blocked  ✓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Calibri"/>
              </a:defRPr>
            </a:pPr>
            <a:r>
              <a:t>B checks (2,4): B sees blocked  ✓ Accept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If witness=1 but B sees free → NACK → PROBE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8229600" cy="1188720"/>
          </a:xfrm>
          <a:prstGeom prst="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Cost: 1 bit per cell (~6-12 cells typical)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Benefit: Accept peer-attested cells without seeing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Test Arena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1,000 cached 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10×10 grids, 4-neighbor movement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s=(0,0) → t=(9,9) for all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Mixed reachable/unreachable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Varied obstacle 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Constraints (same for all systems):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Max messages: 64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Max per packet: 256 bytes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Max total: 3,072 bytes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Deterministic agents (no randomness)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What we measure: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Success rate (oracle accepts certificate)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Bytes per transcript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Messages per transcript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• Interpretability (ends in certificate)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Baseline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201168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Send-All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A: dumps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all indices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synth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union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certify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Raw data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097280"/>
            <a:ext cx="274320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CertTalk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(this 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A: proposes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complete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artifact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+ witness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validates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locally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certify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or NACK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 probe/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188720"/>
            <a:ext cx="201168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Greedy-Probe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A: probes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then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proposes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checks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&amp; certifies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Explore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2560320" cy="21031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Responder-MinCut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B: leads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with cut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⇓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A: probes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conflicts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Cut-only</a:t>
            </a:r>
          </a:p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(unreach)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Each system uses different strategy to minimize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Evaluation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1.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Oracle accepts final certificate?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(PATH_CERT or CUT_CERT passes verification)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2. Communication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Total bytes in transcript</a:t>
            </a:r>
          </a:p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Number of messages exchanged</a:t>
            </a:r>
          </a:p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(median + 95% bootstrap CI)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8229600" cy="1645920"/>
          </a:xfrm>
          <a:prstGeom prst="rect">
            <a:avLst/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3. Interpretability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Does transcript end in human-readable proof?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PATH_CERT: "Route through these cells"</a:t>
            </a:r>
          </a:p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CUT_CERT: "Barrier at these cells"</a:t>
            </a:r>
          </a:p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vs raw data requiring solver to interpret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All systems evaluated on same 1,000 instances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