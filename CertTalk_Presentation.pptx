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52400"/>
            <a:ext cx="932688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Robots Need to Agree. What Do They Send?</a:t>
            </a:r>
            <a:endParaRPr lang="en-US" sz="2400" dirty="0"/>
          </a:p>
        </p:txBody>
      </p:sp>
      <p:pic>
        <p:nvPicPr>
          <p:cNvPr id="3" name="Image 0" descr="/Users/3bn/Documents/My_Repos/slide-maker/workspace/images/grid_robot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569" y="606326"/>
            <a:ext cx="1905000" cy="1905000"/>
          </a:xfrm>
          <a:prstGeom prst="rect">
            <a:avLst/>
          </a:prstGeom>
        </p:spPr>
      </p:pic>
      <p:pic>
        <p:nvPicPr>
          <p:cNvPr id="4" name="Image 1" descr="/Users/3bn/Documents/My_Repos/slide-maker/workspace/images/grid_robot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202" y="606326"/>
            <a:ext cx="1905000" cy="1905000"/>
          </a:xfrm>
          <a:prstGeom prst="rect">
            <a:avLst/>
          </a:prstGeom>
        </p:spPr>
      </p:pic>
      <p:pic>
        <p:nvPicPr>
          <p:cNvPr id="5" name="Image 2" descr="/Users/3bn/Documents/My_Repos/slide-maker/workspace/images/grid_un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836" y="606326"/>
            <a:ext cx="1905000" cy="190500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-91440" y="2714327"/>
            <a:ext cx="93268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we reach G from S? → What to send?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507950" y="3250704"/>
            <a:ext cx="829066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Send-All: Dump everything</a:t>
            </a:r>
            <a:endParaRPr lang="en-US" sz="1500" dirty="0"/>
          </a:p>
        </p:txBody>
      </p:sp>
      <p:sp>
        <p:nvSpPr>
          <p:cNvPr id="8" name="Text 3"/>
          <p:cNvSpPr/>
          <p:nvPr/>
        </p:nvSpPr>
        <p:spPr>
          <a:xfrm>
            <a:off x="507950" y="3590330"/>
            <a:ext cx="8128099" cy="850106"/>
          </a:xfrm>
          <a:prstGeom prst="roundRect">
            <a:avLst>
              <a:gd name="adj" fmla="val 5976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4"/>
          <p:cNvSpPr/>
          <p:nvPr/>
        </p:nvSpPr>
        <p:spPr>
          <a:xfrm>
            <a:off x="536525" y="3590330"/>
            <a:ext cx="0" cy="850106"/>
          </a:xfrm>
          <a:prstGeom prst="line">
            <a:avLst/>
          </a:prstGeom>
          <a:noFill/>
          <a:ln w="57150">
            <a:solidFill>
              <a:srgbClr val="E74C3C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66601" y="3729930"/>
            <a:ext cx="802530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A: "Blocked: (2,1), (2,2), (2,3), (2,4)..."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66601" y="3932932"/>
            <a:ext cx="802530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B: [rebuilds full map, runs solver]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666601" y="4135934"/>
            <a:ext cx="802530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B: "Yes, path exists"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507950" y="4503837"/>
            <a:ext cx="8128099" cy="454372"/>
          </a:xfrm>
          <a:prstGeom prst="roundRect">
            <a:avLst>
              <a:gd name="adj" fmla="val 11180"/>
            </a:avLst>
          </a:prstGeom>
          <a:solidFill>
            <a:srgbClr val="FFE6E6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9"/>
          <p:cNvSpPr/>
          <p:nvPr/>
        </p:nvSpPr>
        <p:spPr>
          <a:xfrm>
            <a:off x="603200" y="4624388"/>
            <a:ext cx="8096351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Raw data, not proof. No attribution. Need solver.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26950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the Proof, Not the Data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527000"/>
            <a:ext cx="93268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CertTalk: Send the certificate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40043" y="987326"/>
            <a:ext cx="41776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3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reachable → PATH_CERT</a:t>
            </a:r>
            <a:endParaRPr lang="en-US" sz="1300" dirty="0"/>
          </a:p>
        </p:txBody>
      </p:sp>
      <p:pic>
        <p:nvPicPr>
          <p:cNvPr id="5" name="Image 0" descr="/Users/3bn/Documents/My_Repos/slide-maker/workspace/images/grid_path_c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075" y="1238101"/>
            <a:ext cx="1841450" cy="18414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0043" y="3181052"/>
            <a:ext cx="41776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"Here's the route"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40043" y="3377803"/>
            <a:ext cx="41776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 bytes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626293" y="987326"/>
            <a:ext cx="41776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3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blocked → CUT_CERT</a:t>
            </a:r>
            <a:endParaRPr lang="en-US" sz="1300" dirty="0"/>
          </a:p>
        </p:txBody>
      </p:sp>
      <p:pic>
        <p:nvPicPr>
          <p:cNvPr id="9" name="Image 1" descr="/Users/3bn/Documents/My_Repos/slide-maker/workspace/images/grid_cut_c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325" y="1238101"/>
            <a:ext cx="1841450" cy="184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26293" y="3181052"/>
            <a:ext cx="41776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wall blocks us"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626293" y="3377803"/>
            <a:ext cx="41776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 bytes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07950" y="3673078"/>
            <a:ext cx="8128099" cy="814388"/>
          </a:xfrm>
          <a:prstGeom prst="roundRect">
            <a:avLst>
              <a:gd name="adj" fmla="val 6238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603200" y="3768328"/>
            <a:ext cx="80963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verify (no solver needed):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31800" y="4019104"/>
            <a:ext cx="7708999" cy="347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20"/>
              </a:lnSpc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</a:t>
            </a:r>
            <a:pPr algn="l" indent="0" marL="0">
              <a:lnSpc>
                <a:spcPts val="132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route cell-by-cell → check no obstacles → verify endpoints</a:t>
            </a:r>
            <a:endParaRPr lang="en-US" sz="1100" dirty="0"/>
          </a:p>
          <a:p>
            <a:pPr algn="l" marL="342900" indent="-342900">
              <a:lnSpc>
                <a:spcPts val="1320"/>
              </a:lnSpc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CUT:</a:t>
            </a:r>
            <a:pPr algn="l" indent="0" marL="0">
              <a:lnSpc>
                <a:spcPts val="1320"/>
              </a:lnSpc>
              <a:spcAft>
                <a:spcPts val="1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Check cells blocked → remove barrier → verify S can't reach G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-91440" y="4563517"/>
            <a:ext cx="93268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spcAft>
                <a:spcPts val="8000"/>
              </a:spcAft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checks, not recomputation. Visual proof.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26950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Compare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552301"/>
            <a:ext cx="93268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under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7950" y="904726"/>
            <a:ext cx="3864025" cy="3850481"/>
          </a:xfrm>
          <a:prstGeom prst="roundRect">
            <a:avLst>
              <a:gd name="adj" fmla="val 1979"/>
            </a:avLst>
          </a:prstGeom>
          <a:solidFill>
            <a:srgbClr val="F8F9FA"/>
          </a:solidFill>
          <a:ln w="38100">
            <a:solidFill>
              <a:srgbClr val="BDC3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1344" y="1171426"/>
            <a:ext cx="33972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Send-All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1344" y="1514326"/>
            <a:ext cx="33972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(baseline)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1344" y="1793677"/>
            <a:ext cx="33972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"Dump raw data"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4650" y="2209502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obstacle coords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4650" y="2496443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obstacle coords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4650" y="2783384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Rebuild map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4650" y="3070324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 pathfinder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4650" y="3357265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4650" y="3771156"/>
            <a:ext cx="3330625" cy="717352"/>
          </a:xfrm>
          <a:prstGeom prst="roundRect">
            <a:avLst>
              <a:gd name="adj" fmla="val 7082"/>
            </a:avLst>
          </a:prstGeom>
          <a:solidFill>
            <a:srgbClr val="FFE6E6"/>
          </a:solidFill>
          <a:ln w="19050">
            <a:solidFill>
              <a:srgbClr val="E74C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4306" y="4044107"/>
            <a:ext cx="315131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- need solver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2975" y="904726"/>
            <a:ext cx="3883075" cy="3850481"/>
          </a:xfrm>
          <a:prstGeom prst="roundRect">
            <a:avLst>
              <a:gd name="adj" fmla="val 1979"/>
            </a:avLst>
          </a:prstGeom>
          <a:solidFill>
            <a:srgbClr val="FFF9E6"/>
          </a:solidFill>
          <a:ln w="47625">
            <a:solidFill>
              <a:srgbClr val="F39C12"/>
            </a:solidFill>
          </a:ln>
          <a:effectLst>
            <a:outerShdw sx="100000" sy="100000" kx="0" ky="0" algn="bl" rotWithShape="0" blurRad="101600" dist="50800" dir="5400000">
              <a:srgbClr val="f39c12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95894" y="1180951"/>
            <a:ext cx="33972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CertTalk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995894" y="1523851"/>
            <a:ext cx="33972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(this work)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95894" y="1803202"/>
            <a:ext cx="33972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"Send proof"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2219027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Certificate proposal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505968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Verify locally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2792909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Certificate 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3079849"/>
            <a:ext cx="3397237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artifact:</a:t>
            </a:r>
            <a:pPr algn="l" indent="0" marL="0">
              <a:lnSpc>
                <a:spcPts val="176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PATH or CUT proof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761631"/>
            <a:ext cx="3330625" cy="717352"/>
          </a:xfrm>
          <a:prstGeom prst="roundRect">
            <a:avLst>
              <a:gd name="adj" fmla="val 7082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18856" y="4034582"/>
            <a:ext cx="315131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Interpretable - visual proof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-91440" y="4907607"/>
            <a:ext cx="93268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3000"/>
              </a:spcAft>
              <a:buNone/>
            </a:pPr>
            <a:r>
              <a:rPr lang="en-US" sz="1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Other baselines (exploration strategies) tested on same 1,000 instances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26950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We'll Test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26669" y="527000"/>
            <a:ext cx="82906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generate 1,000 cached 10×10 grid instances</a:t>
            </a:r>
            <a:endParaRPr lang="en-US" sz="1400" dirty="0"/>
          </a:p>
        </p:txBody>
      </p:sp>
      <p:pic>
        <p:nvPicPr>
          <p:cNvPr id="4" name="Image 0" descr="/Users/3bn/Documents/My_Repos/slide-maker/workspace/images/grid_exampl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7025" y="812750"/>
            <a:ext cx="1308050" cy="13080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0998" y="2197001"/>
            <a:ext cx="2040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exists</a:t>
            </a:r>
            <a:endParaRPr lang="en-US" sz="900" dirty="0"/>
          </a:p>
        </p:txBody>
      </p:sp>
      <p:pic>
        <p:nvPicPr>
          <p:cNvPr id="6" name="Image 1" descr="/Users/3bn/Documents/My_Repos/slide-maker/workspace/images/grid_examp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226" y="812750"/>
            <a:ext cx="1308050" cy="13080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488198" y="2197001"/>
            <a:ext cx="2040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exists</a:t>
            </a:r>
            <a:endParaRPr lang="en-US" sz="900" dirty="0"/>
          </a:p>
        </p:txBody>
      </p:sp>
      <p:pic>
        <p:nvPicPr>
          <p:cNvPr id="8" name="Image 2" descr="/Users/3bn/Documents/My_Repos/slide-maker/workspace/images/grid_exampl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426" y="812750"/>
            <a:ext cx="1308050" cy="13080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615398" y="2197001"/>
            <a:ext cx="2040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barrier</a:t>
            </a:r>
            <a:endParaRPr lang="en-US" sz="900" dirty="0"/>
          </a:p>
        </p:txBody>
      </p:sp>
      <p:pic>
        <p:nvPicPr>
          <p:cNvPr id="10" name="Image 3" descr="/Users/3bn/Documents/My_Repos/slide-maker/workspace/images/grid_exampl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8627" y="812750"/>
            <a:ext cx="1308050" cy="130805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742599" y="2197001"/>
            <a:ext cx="2040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Trivial path</a:t>
            </a:r>
            <a:endParaRPr lang="en-US" sz="900" dirty="0"/>
          </a:p>
        </p:txBody>
      </p:sp>
      <p:sp>
        <p:nvSpPr>
          <p:cNvPr id="12" name="Text 6"/>
          <p:cNvSpPr/>
          <p:nvPr/>
        </p:nvSpPr>
        <p:spPr>
          <a:xfrm>
            <a:off x="507950" y="2533352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(same for all):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07950" y="2796778"/>
            <a:ext cx="8128099" cy="786408"/>
          </a:xfrm>
          <a:prstGeom prst="roundRect">
            <a:avLst>
              <a:gd name="adj" fmla="val 9690"/>
            </a:avLst>
          </a:prstGeom>
          <a:solidFill>
            <a:srgbClr val="FFF9E6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679400" y="2917329"/>
            <a:ext cx="7785199" cy="54530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64 messages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256 bytes per packet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3,072 bytes total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507950" y="3735586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measure &amp; why: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07950" y="3999012"/>
            <a:ext cx="8128099" cy="786408"/>
          </a:xfrm>
          <a:prstGeom prst="roundRect">
            <a:avLst>
              <a:gd name="adj" fmla="val 9690"/>
            </a:avLst>
          </a:prstGeom>
          <a:solidFill>
            <a:srgbClr val="E8F4F8"/>
          </a:solidFill>
          <a:ln w="19050">
            <a:solidFill>
              <a:srgbClr val="3498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1"/>
          <p:cNvSpPr/>
          <p:nvPr/>
        </p:nvSpPr>
        <p:spPr>
          <a:xfrm>
            <a:off x="679400" y="4119562"/>
            <a:ext cx="7785199" cy="54530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(oracle accepts) → Does it work?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(bytes, messages) → Practical overhead?</a:t>
            </a:r>
            <a:endParaRPr lang="en-US" sz="1000" dirty="0"/>
          </a:p>
          <a:p>
            <a:pPr algn="l" marL="101600" indent="-101600">
              <a:lnSpc>
                <a:spcPts val="13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Interpretability</a:t>
            </a:r>
            <a:pPr algn="l"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(human verification time) → Auditability feasible?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26950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Approach: Implementation &amp; Evaluation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527000"/>
            <a:ext cx="93268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we'll build and test the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44401" y="825401"/>
            <a:ext cx="8255198" cy="1567755"/>
          </a:xfrm>
          <a:prstGeom prst="roundRect">
            <a:avLst>
              <a:gd name="adj" fmla="val 3240"/>
            </a:avLst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72976" y="825401"/>
            <a:ext cx="0" cy="1567755"/>
          </a:xfrm>
          <a:prstGeom prst="line">
            <a:avLst/>
          </a:prstGeom>
          <a:noFill/>
          <a:ln w="57150">
            <a:solidFill>
              <a:srgbClr val="3498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3951" y="926902"/>
            <a:ext cx="80511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What We'll Implement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3951" y="1339602"/>
            <a:ext cx="394783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CertTalk Protocol: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3951" y="1644253"/>
            <a:ext cx="3870424" cy="6093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&amp; CUT certificate encodings</a:t>
            </a:r>
            <a:endParaRPr lang="en-US" sz="1000" dirty="0"/>
          </a:p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Witness bit negotiation</a:t>
            </a:r>
            <a:endParaRPr lang="en-US" sz="1000" dirty="0"/>
          </a:p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verification module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76775" y="1339602"/>
            <a:ext cx="394783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Systems: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76775" y="1644253"/>
            <a:ext cx="3870424" cy="3935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Send-All (raw coordinates)</a:t>
            </a:r>
            <a:endParaRPr lang="en-US" sz="1000" dirty="0"/>
          </a:p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exploration strategies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4401" y="2494657"/>
            <a:ext cx="8255198" cy="1351955"/>
          </a:xfrm>
          <a:prstGeom prst="roundRect">
            <a:avLst>
              <a:gd name="adj" fmla="val 3758"/>
            </a:avLst>
          </a:prstGeom>
          <a:solidFill>
            <a:srgbClr val="FEF5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2976" y="2494657"/>
            <a:ext cx="0" cy="1351955"/>
          </a:xfrm>
          <a:prstGeom prst="line">
            <a:avLst/>
          </a:prstGeom>
          <a:noFill/>
          <a:ln w="5715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951" y="2596158"/>
            <a:ext cx="80511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Dataset &amp; Testing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951" y="2881908"/>
            <a:ext cx="7893248" cy="825103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cached 10×10 grid instances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(varied obstacle density 5%-30%)</a:t>
            </a:r>
            <a:endParaRPr lang="en-US" sz="1000" dirty="0"/>
          </a:p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reachable and unreachable scenarios for comprehensive coverage</a:t>
            </a:r>
            <a:endParaRPr lang="en-US" sz="1000" dirty="0"/>
          </a:p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all systems under identical constraints (64 msg, 256 bytes/packet)</a:t>
            </a:r>
            <a:endParaRPr lang="en-US" sz="1000" dirty="0"/>
          </a:p>
          <a:p>
            <a:pPr algn="l" marL="114300" indent="-1143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validates final artifacts for correctness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4401" y="3948112"/>
            <a:ext cx="8255198" cy="1174105"/>
          </a:xfrm>
          <a:prstGeom prst="roundRect">
            <a:avLst>
              <a:gd name="adj" fmla="val 4327"/>
            </a:avLst>
          </a:prstGeom>
          <a:solidFill>
            <a:srgbClr val="EAFA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72976" y="3948112"/>
            <a:ext cx="0" cy="1174105"/>
          </a:xfrm>
          <a:prstGeom prst="line">
            <a:avLst/>
          </a:prstGeom>
          <a:noFill/>
          <a:ln w="5715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951" y="4049613"/>
            <a:ext cx="80511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Metrics &amp; Why We Measure Them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951" y="4335363"/>
            <a:ext cx="805111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Correctness: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Oracle acceptance rate → Validates certificates work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3951" y="4563814"/>
            <a:ext cx="805111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Efficiency: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Bytes + messages per conversation → Ensures practical overhead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3951" y="4792266"/>
            <a:ext cx="805111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Interpretability:</a:t>
            </a:r>
            <a:pPr algn="l" indent="0" marL="0">
              <a:lnSpc>
                <a:spcPts val="14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Human verification time → Tests auditability feasibility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26950"/>
            <a:ext cx="93268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&amp; Deliverables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-91440" y="527000"/>
            <a:ext cx="93268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26 → Early Dec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44401" y="799951"/>
            <a:ext cx="8255198" cy="298252"/>
          </a:xfrm>
          <a:prstGeom prst="roundRect">
            <a:avLst>
              <a:gd name="adj" fmla="val 17033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1351" y="863352"/>
            <a:ext cx="81613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 (Oct 26 - Nov 8): Core Implementation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71351" y="1148953"/>
            <a:ext cx="8001298" cy="30971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170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CertTalk protocol + PATH/CUT encodings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Witness bit negotiation + Oracle verification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71351" y="1496764"/>
            <a:ext cx="8001298" cy="250031"/>
          </a:xfrm>
          <a:prstGeom prst="roundRect">
            <a:avLst>
              <a:gd name="adj" fmla="val 15238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5164" y="1496764"/>
            <a:ext cx="0" cy="250031"/>
          </a:xfrm>
          <a:prstGeom prst="line">
            <a:avLst/>
          </a:prstGeom>
          <a:noFill/>
          <a:ln w="47625">
            <a:solidFill>
              <a:srgbClr val="27AE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0477" y="1547515"/>
            <a:ext cx="7905685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Checkpoint: 2-agent demo working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4401" y="1848296"/>
            <a:ext cx="8255198" cy="298252"/>
          </a:xfrm>
          <a:prstGeom prst="roundRect">
            <a:avLst>
              <a:gd name="adj" fmla="val 17033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1351" y="1911697"/>
            <a:ext cx="81613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3-4 (Nov 9 - Nov 22): Baselines &amp; Dataset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351" y="2197298"/>
            <a:ext cx="8001298" cy="30971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170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systems + 1,000 grid instances generated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harness for running all systems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71351" y="2545110"/>
            <a:ext cx="8001298" cy="250031"/>
          </a:xfrm>
          <a:prstGeom prst="roundRect">
            <a:avLst>
              <a:gd name="adj" fmla="val 15238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95164" y="2545110"/>
            <a:ext cx="0" cy="250031"/>
          </a:xfrm>
          <a:prstGeom prst="line">
            <a:avLst/>
          </a:prstGeom>
          <a:noFill/>
          <a:ln w="47625">
            <a:solidFill>
              <a:srgbClr val="27AE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477" y="2595860"/>
            <a:ext cx="7905685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Checkpoint: All systems run on samples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4401" y="2896642"/>
            <a:ext cx="8255198" cy="298252"/>
          </a:xfrm>
          <a:prstGeom prst="roundRect">
            <a:avLst>
              <a:gd name="adj" fmla="val 17033"/>
            </a:avLst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71351" y="2960043"/>
            <a:ext cx="81613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5-6 (Nov 23 - Dec 6): Experiments &amp; Analysis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351" y="3245644"/>
            <a:ext cx="8001298" cy="30971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170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experimental runs + Human study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analysis &amp; paper draft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71351" y="3593455"/>
            <a:ext cx="8001298" cy="250031"/>
          </a:xfrm>
          <a:prstGeom prst="roundRect">
            <a:avLst>
              <a:gd name="adj" fmla="val 15238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95164" y="3593455"/>
            <a:ext cx="0" cy="250031"/>
          </a:xfrm>
          <a:prstGeom prst="line">
            <a:avLst/>
          </a:prstGeom>
          <a:noFill/>
          <a:ln w="47625">
            <a:solidFill>
              <a:srgbClr val="27AE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0477" y="3644205"/>
            <a:ext cx="7905685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Checkpoint: Results complete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4401" y="4071938"/>
            <a:ext cx="8255198" cy="837902"/>
          </a:xfrm>
          <a:prstGeom prst="roundRect">
            <a:avLst>
              <a:gd name="adj" fmla="val 9094"/>
            </a:avLst>
          </a:prstGeom>
          <a:solidFill>
            <a:srgbClr val="FFF9E6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5851" y="4192488"/>
            <a:ext cx="80705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Deliverables: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5851" y="4455914"/>
            <a:ext cx="1920925" cy="333375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93797" y="4551164"/>
            <a:ext cx="1765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(GitHub)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12975" y="4455914"/>
            <a:ext cx="1920925" cy="333375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90921" y="4551164"/>
            <a:ext cx="1765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(1K grids)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10100" y="4455914"/>
            <a:ext cx="1920925" cy="333375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688046" y="4551164"/>
            <a:ext cx="1765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(Arxiv)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7225" y="4455914"/>
            <a:ext cx="1920925" cy="333375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685170" y="4551164"/>
            <a:ext cx="17650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CertTalk: Approach &amp; Experiments</dc:title>
  <dc:subject>Multi-agent communication with certificates</dc:subject>
  <dc:creator>CertTalk Team</dc:creator>
  <cp:lastModifiedBy>CertTalk Team</cp:lastModifiedBy>
  <cp:revision>1</cp:revision>
  <dcterms:created xsi:type="dcterms:W3CDTF">2025-10-27T12:40:08Z</dcterms:created>
  <dcterms:modified xsi:type="dcterms:W3CDTF">2025-10-27T12:40:08Z</dcterms:modified>
</cp:coreProperties>
</file>