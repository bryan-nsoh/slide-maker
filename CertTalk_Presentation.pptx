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C3E50"/>
                </a:solidFill>
              </a:defRPr>
            </a:pPr>
            <a:r>
              <a:t>Two Robots, Private Maps, One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Robot A sees: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S . . . .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. # . .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. # . .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. . . .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. . . 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2377440" cy="1463040"/>
          </a:xfrm>
          <a:prstGeom prst="rect">
            <a:avLst/>
          </a:prstGeom>
          <a:noFill/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1097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Robot B sees: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716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S . . # .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. . . .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# . . .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. . . #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. . . 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325880"/>
            <a:ext cx="2377440" cy="1463040"/>
          </a:xfrm>
          <a:prstGeom prst="rect">
            <a:avLst/>
          </a:prstGeom>
          <a:noFill/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1097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50"/>
                </a:solidFill>
                <a:latin typeface="Calibri"/>
              </a:defRPr>
            </a:pPr>
            <a:r>
              <a:t>Union U = A∪B: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3716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S . . # .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. # . .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# # . .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. . . #</a:t>
            </a:r>
          </a:p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. . . .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49240" y="1325880"/>
            <a:ext cx="2377440" cy="1463040"/>
          </a:xfrm>
          <a:prstGeom prst="rect">
            <a:avLst/>
          </a:prstGeom>
          <a:noFill/>
          <a:ln w="317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Calibri"/>
              </a:defRPr>
            </a:pPr>
            <a:r>
              <a:t>Question: Can we reach G from 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749039"/>
            <a:ext cx="3200400" cy="210312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80B9"/>
                </a:solidFill>
                <a:latin typeface="Calibri"/>
              </a:defRPr>
            </a:pPr>
            <a:r>
              <a:t>PATH_CERT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06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"Here's the route"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ourier New"/>
              </a:defRPr>
            </a:pPr>
            <a:r>
              <a:t>S→→↓↓↓↓→→→G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120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Calibri"/>
              </a:defRPr>
            </a:pPr>
            <a:r>
              <a:t>12 bytes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3749039"/>
            <a:ext cx="3200400" cy="210312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3840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CUT_CERT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206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"Here's the barrier"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Calibri"/>
              </a:defRPr>
            </a:pPr>
            <a:r>
              <a:t>████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120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6464"/>
                </a:solidFill>
                <a:latin typeface="Calibri"/>
              </a:defRPr>
            </a:pPr>
            <a:r>
              <a:t>20 bytes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C3E50"/>
                </a:solidFill>
              </a:defRPr>
            </a:pPr>
            <a:r>
              <a:t>How Agents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980B9"/>
                </a:solidFill>
                <a:latin typeface="Calibri"/>
              </a:defRPr>
            </a:pPr>
            <a:r>
              <a:t>AGENT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(Initiator)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AGENT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371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(Responder)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011680"/>
            <a:ext cx="4572000" cy="182880"/>
          </a:xfrm>
          <a:prstGeom prst="line">
            <a:avLst/>
          </a:prstGeom>
          <a:ln w="31750">
            <a:solidFill>
              <a:srgbClr val="298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00400" y="18288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980B9"/>
                </a:solidFill>
                <a:latin typeface="Calibri"/>
              </a:defRPr>
            </a:pPr>
            <a:r>
              <a:t>PATH_PROPOSE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57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3E50"/>
                </a:solidFill>
                <a:latin typeface="Calibri"/>
              </a:defRPr>
            </a:pPr>
            <a:r>
              <a:t>"Try this route: ↓↓↓→→→"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C3E50"/>
                </a:solidFill>
                <a:latin typeface="Calibri"/>
              </a:defRPr>
            </a:pPr>
            <a:r>
              <a:t>Check against</a:t>
            </a:r>
          </a:p>
          <a:p>
            <a:pPr algn="l">
              <a:defRPr sz="900" b="0">
                <a:solidFill>
                  <a:srgbClr val="2C3E50"/>
                </a:solidFill>
                <a:latin typeface="Calibri"/>
              </a:defRPr>
            </a:pPr>
            <a:r>
              <a:t>private map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286000" y="2743200"/>
            <a:ext cx="4572000" cy="182880"/>
          </a:xfrm>
          <a:prstGeom prst="line">
            <a:avLst/>
          </a:prstGeom>
          <a:ln w="3175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74720" y="2560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PATH_CERT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7889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C3E50"/>
                </a:solidFill>
                <a:latin typeface="Calibri"/>
              </a:defRPr>
            </a:pPr>
            <a:r>
              <a:t>"Certified ✓"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86000" y="3291840"/>
            <a:ext cx="4572000" cy="182880"/>
          </a:xfrm>
          <a:prstGeom prst="line">
            <a:avLst/>
          </a:prstGeom>
          <a:ln w="31750">
            <a:solidFill>
              <a:srgbClr val="298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840480" y="32004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C3E50"/>
                </a:solidFill>
                <a:latin typeface="Calibri"/>
              </a:defRPr>
            </a:pPr>
            <a:r>
              <a:t>ACK "Got it"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50"/>
                </a:solidFill>
                <a:latin typeface="Calibri"/>
              </a:defRPr>
            </a:pPr>
            <a:r>
              <a:t>● DONE (3 messages)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840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50"/>
                </a:solidFill>
                <a:latin typeface="Calibri"/>
              </a:defRPr>
            </a:pPr>
            <a:r>
              <a:t>With conflicts: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72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ourier New"/>
              </a:defRPr>
            </a:pPr>
            <a:r>
              <a:t>│  CUT_PROPOSE "Barrier: cells X,Y,Z"</a:t>
            </a:r>
          </a:p>
          <a:p>
            <a:pPr algn="l">
              <a:defRPr sz="1000" b="0">
                <a:solidFill>
                  <a:srgbClr val="2C3E50"/>
                </a:solidFill>
                <a:latin typeface="Courier New"/>
              </a:defRPr>
            </a:pPr>
            <a:r>
              <a:t>│  ────────────&gt; NACK "Can't verify Y"</a:t>
            </a:r>
          </a:p>
          <a:p>
            <a:pPr algn="l">
              <a:defRPr sz="1000" b="0">
                <a:solidFill>
                  <a:srgbClr val="2C3E50"/>
                </a:solidFill>
                <a:latin typeface="Courier New"/>
              </a:defRPr>
            </a:pPr>
            <a:r>
              <a:t>│  PROBE "Is Y blocked?"</a:t>
            </a:r>
          </a:p>
          <a:p>
            <a:pPr algn="l">
              <a:defRPr sz="1000" b="0">
                <a:solidFill>
                  <a:srgbClr val="2C3E50"/>
                </a:solidFill>
                <a:latin typeface="Courier New"/>
              </a:defRPr>
            </a:pPr>
            <a:r>
              <a:t>│  ────────────&gt; PROBE_REPLY "Yes"</a:t>
            </a:r>
          </a:p>
          <a:p>
            <a:pPr algn="l">
              <a:defRPr sz="1000" b="0">
                <a:solidFill>
                  <a:srgbClr val="2C3E50"/>
                </a:solidFill>
                <a:latin typeface="Courier New"/>
              </a:defRPr>
            </a:pPr>
            <a:r>
              <a:t>│  CUT_PROPOSE (revised)</a:t>
            </a:r>
          </a:p>
          <a:p>
            <a:pPr algn="l">
              <a:defRPr sz="1000" b="0">
                <a:solidFill>
                  <a:srgbClr val="2C3E50"/>
                </a:solidFill>
                <a:latin typeface="Courier New"/>
              </a:defRPr>
            </a:pPr>
            <a:r>
              <a:t>│  ────────────&gt; CUT_CERT ✓</a:t>
            </a:r>
          </a:p>
          <a:p>
            <a:pPr algn="l">
              <a:defRPr sz="1000" b="0">
                <a:solidFill>
                  <a:srgbClr val="2C3E50"/>
                </a:solidFill>
                <a:latin typeface="Courier New"/>
              </a:defRPr>
            </a:pPr>
            <a:r>
              <a:t>●  DONE (5-6 messages)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C3E50"/>
                </a:solidFill>
              </a:defRPr>
            </a:pPr>
            <a:r>
              <a:t>How Agents Agree on Unseen Obstacles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A proposes cut: cells (2,1), (2,2), (2,3), (2,4)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8229600" cy="292608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A's view: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28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Witness bits: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828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B's rule: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(2,1) ← A sees 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1945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bit=0 "A vouches"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1945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Accept if: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(2,2) ← A sees 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4688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bit=0 "A vouches"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4688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- B sees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(2,3) ← A sees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7432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bit=1 "B vouches"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432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C3E50"/>
                </a:solidFill>
                <a:latin typeface="Calibri"/>
              </a:defRPr>
            </a:pPr>
            <a:r>
              <a:t>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017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(2,4) ← A sees 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0175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bit=1 "B vouches"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0175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- bit=0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383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C3E50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749039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7AE60"/>
                </a:solidFill>
                <a:latin typeface="Calibri"/>
              </a:defRPr>
            </a:pPr>
            <a:r>
              <a:t>B checks (2,3): B sees #  ✓ Accept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7AE60"/>
                </a:solidFill>
                <a:latin typeface="Calibri"/>
              </a:defRPr>
            </a:pPr>
            <a:r>
              <a:t>B checks (2,4): B sees #  ✓ 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389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74C3C"/>
                </a:solidFill>
                <a:latin typeface="Calibri"/>
              </a:defRPr>
            </a:pPr>
            <a:r>
              <a:t>If witness=1 but B sees free → NACK → PROBE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029200"/>
            <a:ext cx="8229600" cy="1188720"/>
          </a:xfrm>
          <a:prstGeom prst="rect">
            <a:avLst/>
          </a:prstGeom>
          <a:noFill/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2120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Cost: 1 bit per cell (~6-12 cells 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577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Benefit: Accept peer-attested cells without seeing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C3E50"/>
                </a:solidFill>
              </a:defRPr>
            </a:pPr>
            <a:r>
              <a:t>Test Arena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1,000 cached instances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• 10×10 grids, 4-neighbor movement</a:t>
            </a:r>
          </a:p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• s=(0,0) → t=(9,9) for all</a:t>
            </a:r>
          </a:p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• Mixed reachable/unreachable</a:t>
            </a:r>
          </a:p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• Varied obstacle density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Calibri"/>
              </a:defRPr>
            </a:pPr>
            <a:r>
              <a:t>Constraints (same for all systems):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8229600" cy="109728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Max messages: 64</a:t>
            </a:r>
          </a:p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Max per packet: 256 bytes</a:t>
            </a:r>
          </a:p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Max total: 3,072 bytes</a:t>
            </a:r>
          </a:p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Deterministic agents (no randomness)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Calibri"/>
              </a:defRPr>
            </a:pPr>
            <a:r>
              <a:t>What we measure: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634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• Success rate (oracle accepts certificate)</a:t>
            </a:r>
          </a:p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• Bytes per transcript</a:t>
            </a:r>
          </a:p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• Messages per transcript</a:t>
            </a:r>
          </a:p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• Interpretability (ends in certificate)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C3E50"/>
                </a:solidFill>
              </a:defRPr>
            </a:pPr>
            <a:r>
              <a:t>Baseline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1188720"/>
            <a:ext cx="2011680" cy="210312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Calibri"/>
              </a:defRPr>
            </a:pPr>
            <a:r>
              <a:t>Send-All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A: dumps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all indices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↓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B: synth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union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↓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B: certify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Raw data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188720"/>
            <a:ext cx="2286000" cy="2103120"/>
          </a:xfrm>
          <a:prstGeom prst="rect">
            <a:avLst/>
          </a:prstGeom>
          <a:solidFill>
            <a:srgbClr val="F0F8FF"/>
          </a:solidFill>
          <a:ln w="381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12801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CertTalk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5544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(this work)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82880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A: proposes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complete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artifact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+ witness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↓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B: validates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locally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↓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B: certify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or NACK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1 probe/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branch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2011680" cy="210312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1280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Calibri"/>
              </a:defRPr>
            </a:pPr>
            <a:r>
              <a:t>Greedy-Probe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64592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A: probes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then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proposes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↓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B: checks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&amp; certifies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Explore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474720"/>
            <a:ext cx="2286000" cy="210312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5661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Calibri"/>
              </a:defRPr>
            </a:pPr>
            <a:r>
              <a:t>Responder-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8404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Calibri"/>
              </a:defRPr>
            </a:pPr>
            <a:r>
              <a:t>MinCut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06240"/>
            <a:ext cx="1920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B: leads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with cut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↓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A: probes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conflicts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Cut-only</a:t>
            </a:r>
          </a:p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(unreach)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43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Each system uses different strategy to minimize communication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C3E50"/>
                </a:solidFill>
              </a:defRPr>
            </a:pPr>
            <a:r>
              <a:t>Evaluation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80B9"/>
                </a:solidFill>
                <a:latin typeface="Calibri"/>
              </a:defRPr>
            </a:pPr>
            <a:r>
              <a:t>1.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Oracle accepts final certificate?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Calibri"/>
              </a:defRPr>
            </a:pPr>
            <a:r>
              <a:t>(PATH_CERT or CUT_CERT passes verification)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8229600" cy="118872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2. Communication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• Total bytes in transcript</a:t>
            </a:r>
          </a:p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• Number of messages exchanged</a:t>
            </a:r>
          </a:p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(median + 95% bootstrap CI)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57600"/>
            <a:ext cx="8229600" cy="1645920"/>
          </a:xfrm>
          <a:prstGeom prst="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3. Interpretability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Does transcript end in human-readable proof?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434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• PATH_CERT: "Route through these cells"</a:t>
            </a:r>
          </a:p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• CUT_CERT: "Barrier at these cells"</a:t>
            </a:r>
          </a:p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vs raw data requiring solver to interpret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All systems evaluated on same 1,000 instances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